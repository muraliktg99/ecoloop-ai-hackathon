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  <a:defRPr sz="3600" b="1">
                <a:solidFill>
                  <a:srgbClr val="047857"/>
                </a:solidFill>
              </a:defRPr>
            </a:pPr>
            <a:r>
              <a:t>EcoLoop AI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Project Name: </a:t>
            </a:r>
            <a:r>
              <a:rPr sz="1400">
                <a:solidFill>
                  <a:srgbClr val="1E293B"/>
                </a:solidFill>
              </a:rPr>
              <a:t>EcoLoop AI — From Waste to Verified Value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Challenge Track: </a:t>
            </a:r>
            <a:r>
              <a:rPr sz="1400">
                <a:solidFill>
                  <a:srgbClr val="1E293B"/>
                </a:solidFill>
              </a:rPr>
              <a:t>AI Builder Cup — Sustainability &amp; Circular Economy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Team Name: </a:t>
            </a:r>
            <a:r>
              <a:rPr sz="1400">
                <a:solidFill>
                  <a:srgbClr val="1E293B"/>
                </a:solidFill>
              </a:rPr>
              <a:t>EcoLoop Innovators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Team Leader: </a:t>
            </a:r>
            <a:r>
              <a:rPr sz="1400">
                <a:solidFill>
                  <a:srgbClr val="1E293B"/>
                </a:solidFill>
              </a:rPr>
              <a:t>Krishnan (Lead Solution Architect &amp; Fullstack Engineer)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47857"/>
                </a:solidFill>
              </a:rPr>
              <a:t>Problem Statement: </a:t>
            </a:r>
            <a:r>
              <a:rPr sz="1400">
                <a:solidFill>
                  <a:srgbClr val="1E293B"/>
                </a:solidFill>
              </a:rPr>
              <a:t>Municipal waste segregation failure, household packaging confusion, and the greenwashing gap of unverified recycling claims in circular economies.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  <p:sp>
        <p:nvSpPr>
          <p:cNvPr id="65" name="TextBox 6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66" name="TextBox 6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Executive Summary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Core Mission: </a:t>
            </a:r>
            <a:r>
              <a:rPr sz="1300">
                <a:solidFill>
                  <a:srgbClr val="1E293B"/>
                </a:solidFill>
              </a:rPr>
              <a:t>Transform household waste segregation into an auditable circular economy chain of custody.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Differentiator: </a:t>
            </a:r>
            <a:r>
              <a:rPr sz="1300">
                <a:solidFill>
                  <a:srgbClr val="1E293B"/>
                </a:solidFill>
              </a:rPr>
              <a:t>Verified Recovery Protocol: Zero environmental impact is reported merely on image scans or user clicks. Credit is unlocked only after physical scale verification by authorized collectors.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Target Context: </a:t>
            </a:r>
            <a:r>
              <a:rPr sz="1300">
                <a:solidFill>
                  <a:srgbClr val="1E293B"/>
                </a:solidFill>
              </a:rPr>
              <a:t>Kerala, India — Empowering 30,000+ Haritha Karma Sena grassroots women collectors under Suchitwa Mission &amp; Clean Kerala Company.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Technology Stack: </a:t>
            </a:r>
            <a:r>
              <a:rPr sz="1300">
                <a:solidFill>
                  <a:srgbClr val="1E293B"/>
                </a:solidFill>
              </a:rPr>
              <a:t>Google Gemini 2.5 Flash multimodal vision, Cloud Firestore real-time NoSQL store, Google Cloud Run serverless deployment, and Firebase SDK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3" name="TextBox 7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Brief About the Idea — EcoLoop AI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Problem: </a:t>
            </a:r>
            <a:r>
              <a:rPr sz="1300">
                <a:solidFill>
                  <a:srgbClr val="1E293B"/>
                </a:solidFill>
              </a:rPr>
              <a:t>Households want to recycle, but resin ambiguity (e.g. multi-layer polymer pouches vs rigid PET) and grease contamination ruin collection batches. Meanwhile, green apps reward users for unverified clicks.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The Solution: </a:t>
            </a:r>
            <a:r>
              <a:rPr sz="1300">
                <a:solidFill>
                  <a:srgbClr val="1E293B"/>
                </a:solidFill>
              </a:rPr>
              <a:t>EcoLoop AI pairs Google Gemini 2.5 Flash with a deterministic municipal rules engine and a digital weighbridge receipt workflow.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End-to-End Journey: </a:t>
            </a:r>
            <a:r>
              <a:rPr sz="1300">
                <a:solidFill>
                  <a:srgbClr val="1E293B"/>
                </a:solidFill>
              </a:rPr>
              <a:t>Household snaps photo -&gt; Gemini identifies material &amp; checks contamination -&gt; Kerala Suchitwa Mission rules guide preparation in Malayalam &amp; English -&gt; Handover request is scheduled -&gt; Collector physically weighs item and deducts contamination -&gt; Certified receipt issues real-time carbon &amp; landfill diversion credit.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1" name="TextBox 8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2" name="TextBox 8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Opportunities &amp; Unique Selling Proposition (USP)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How Different From Existing Solutions?: </a:t>
            </a:r>
            <a:r>
              <a:rPr sz="1300">
                <a:solidFill>
                  <a:srgbClr val="1E293B"/>
                </a:solidFill>
              </a:rPr>
              <a:t>Traditional apps stop at AI detection or passive mapping. EcoLoop AI introduces physical chain-of-custody verification: waste is tracked through certified scales before claiming environmental impact.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How It Solves the Problem: </a:t>
            </a:r>
            <a:r>
              <a:rPr sz="1300">
                <a:solidFill>
                  <a:srgbClr val="1E293B"/>
                </a:solidFill>
              </a:rPr>
              <a:t>Prevents cross-contamination at the doorstep by providing localized cleaning/drying protocols (Suchitwa Mission) in both English and Malayalam.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Core USP #1 - Verified Recovery: </a:t>
            </a:r>
            <a:r>
              <a:rPr sz="1300">
                <a:solidFill>
                  <a:srgbClr val="1E293B"/>
                </a:solidFill>
              </a:rPr>
              <a:t>Doorstep scale readings with wet-contamination deduction eliminate greenwashing and fake self-reported numbers.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Core USP #2 - Calibrated AI Uncertainty: </a:t>
            </a:r>
            <a:r>
              <a:rPr sz="1300">
                <a:solidFill>
                  <a:srgbClr val="1E293B"/>
                </a:solidFill>
              </a:rPr>
              <a:t>Gemini openly flags when image resolution cannot definitively identify polymer layers, triggering human review rather than guessing.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Core USP #3 - Extended Producer Responsibility (EPR): </a:t>
            </a:r>
            <a:r>
              <a:rPr sz="1300">
                <a:solidFill>
                  <a:srgbClr val="1E293B"/>
                </a:solidFill>
              </a:rPr>
              <a:t>Auditable digital receipts provide FMCG brands with proof of statutory plastic waste diversion.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89" name="TextBox 8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0" name="TextBox 8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Key Features Offered by EcoLoop AI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1. Multimodal AI Waste Scanner: </a:t>
            </a:r>
            <a:r>
              <a:rPr sz="1300">
                <a:solidFill>
                  <a:srgbClr val="1E293B"/>
                </a:solidFill>
              </a:rPr>
              <a:t>Powered by Google Gemini 2.5 Flash via @google/genai SDK for instant polymer, resin, and hazard identification.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2. Contamination &amp; Resin Detection: </a:t>
            </a:r>
            <a:r>
              <a:rPr sz="1300">
                <a:solidFill>
                  <a:srgbClr val="1E293B"/>
                </a:solidFill>
              </a:rPr>
              <a:t>Distinguishes rigid PET/HDPE from multi-layer flexible packaging (MLP) and detects food/grease contamination on cardboard.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3. Bilingual Localization (EN / ML): </a:t>
            </a:r>
            <a:r>
              <a:rPr sz="1300">
                <a:solidFill>
                  <a:srgbClr val="1E293B"/>
                </a:solidFill>
              </a:rPr>
              <a:t>Complete UI and municipal directives available in English and Malayalam for grassroots accessibility.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4. Curated Kerala Recovery Hubs: </a:t>
            </a:r>
            <a:r>
              <a:rPr sz="1300">
                <a:solidFill>
                  <a:srgbClr val="1E293B"/>
                </a:solidFill>
              </a:rPr>
              <a:t>Direct routing to Haritha Karma Sena Ward Collection Centers, Clean Kerala Company RRFs, and authorized scrap recyclers.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5. Handover Request State Machine: </a:t>
            </a:r>
            <a:r>
              <a:rPr sz="1300">
                <a:solidFill>
                  <a:srgbClr val="1E293B"/>
                </a:solidFill>
              </a:rPr>
              <a:t>Full lifecycle tracking across pending, scheduled, accepted, and doorstep-rejected states.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6. Collector Weighbridge Verification Portal: </a:t>
            </a:r>
            <a:r>
              <a:rPr sz="1300">
                <a:solidFill>
                  <a:srgbClr val="1E293B"/>
                </a:solidFill>
              </a:rPr>
              <a:t>Role-authorized PIN workflow allowing collectors to log certified scale readings and issue receipts.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7. Auditable Sustainability Impact Ledger: </a:t>
            </a:r>
            <a:r>
              <a:rPr sz="1300">
                <a:solidFill>
                  <a:srgbClr val="1E293B"/>
                </a:solidFill>
              </a:rPr>
              <a:t>Calculates Landfill Diverted (kg), Avoided GHG (kg CO2e), and Water/Energy savings via CPCB/WARM conversion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98" name="TextBox 9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Process Flow &amp; Use-Case Diagram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1: Household Capture: </a:t>
            </a:r>
            <a:r>
              <a:rPr sz="1300">
                <a:solidFill>
                  <a:srgbClr val="1E293B"/>
                </a:solidFill>
              </a:rPr>
              <a:t>Resident uploads a photo of discarded packaging or selects a curated sample item.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2: Gemini 2.5 Multimodal Analysis: </a:t>
            </a:r>
            <a:r>
              <a:rPr sz="1300">
                <a:solidFill>
                  <a:srgbClr val="1E293B"/>
                </a:solidFill>
              </a:rPr>
              <a:t>AI analyzes visual cues, transparency, and packaging geometry; extracts structured JSON with confidence and contamination flags.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3: Kerala Rules Engine Filter: </a:t>
            </a:r>
            <a:r>
              <a:rPr sz="1300">
                <a:solidFill>
                  <a:srgbClr val="1E293B"/>
                </a:solidFill>
              </a:rPr>
              <a:t>Cross-references item with Suchitwa Mission &amp; Clean Kerala Co. rules to generate preparation steps and assign collection day.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4: Handover Request Creation: </a:t>
            </a:r>
            <a:r>
              <a:rPr sz="1300">
                <a:solidFill>
                  <a:srgbClr val="1E293B"/>
                </a:solidFill>
              </a:rPr>
              <a:t>Resident logs pickup request with estimated weight and ward address.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5: Physical Scale Handover: </a:t>
            </a:r>
            <a:r>
              <a:rPr sz="1300">
                <a:solidFill>
                  <a:srgbClr val="1E293B"/>
                </a:solidFill>
              </a:rPr>
              <a:t>Haritha Karma Sena collector inspects material, inputs gross scale weight, and deducts contamination.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6: Tamper-Evident Receipt: </a:t>
            </a:r>
            <a:r>
              <a:rPr sz="1300">
                <a:solidFill>
                  <a:srgbClr val="1E293B"/>
                </a:solidFill>
              </a:rPr>
              <a:t>Digital certificate (RCP-XXXXXX) issued to resident.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Step 7: Real-Time Ledger Update: </a:t>
            </a:r>
            <a:r>
              <a:rPr sz="1300">
                <a:solidFill>
                  <a:srgbClr val="1E293B"/>
                </a:solidFill>
              </a:rPr>
              <a:t>Verified net weight increments municipal landfill diversion and CPCB carbon offset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05" name="TextBox 104"/>
          <p:cNvSpPr txBox="1"/>
          <p:nvPr/>
        </p:nvSpPr>
        <p:spPr>
          <a:xfrm>
            <a:off x="548640" y="9144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pic>
        <p:nvPicPr>
          <p:cNvPr id="106" name="Picture 105" descr="home_view_17923327367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914400"/>
            <a:ext cx="3931920" cy="1828800"/>
          </a:xfrm>
          <a:prstGeom prst="rect">
            <a:avLst/>
          </a:prstGeom>
        </p:spPr>
      </p:pic>
      <p:pic>
        <p:nvPicPr>
          <p:cNvPr id="107" name="Picture 106" descr="guidance_card_view_17923327696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3931920" cy="182880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48640" y="9144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UI Wireframes &amp; Component Hierarchy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1 - AI Waste Scanner: </a:t>
            </a:r>
            <a:r>
              <a:rPr sz="1300">
                <a:solidFill>
                  <a:srgbClr val="1E293B"/>
                </a:solidFill>
              </a:rPr>
              <a:t>Hero banner, sample selector (Milma pouch, PET bottle, box, battery), real-time reasoning ticker.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2 - Dynamic Guidance Card: </a:t>
            </a:r>
            <a:r>
              <a:rPr sz="1300">
                <a:solidFill>
                  <a:srgbClr val="1E293B"/>
                </a:solidFill>
              </a:rPr>
              <a:t>Certainty score badge, contamination alert, Suchitwa Mission cleaning/drying steps.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3 - Kerala Recovery Hubs: </a:t>
            </a:r>
            <a:r>
              <a:rPr sz="1300">
                <a:solidFill>
                  <a:srgbClr val="1E293B"/>
                </a:solidFill>
              </a:rPr>
              <a:t>District and material category filters, collection calendars, facility addresses.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4 - Collector Portal: </a:t>
            </a:r>
            <a:r>
              <a:rPr sz="1300">
                <a:solidFill>
                  <a:srgbClr val="1E293B"/>
                </a:solidFill>
              </a:rPr>
              <a:t>PIN-gated queue of pending pickups, certified scale weight entry, tamper-evident receipts.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View 5 - Impact Ledger: </a:t>
            </a:r>
            <a:r>
              <a:rPr sz="1300">
                <a:solidFill>
                  <a:srgbClr val="1E293B"/>
                </a:solidFill>
              </a:rPr>
              <a:t>Verified landfill kg diverted, avoided CO2e, and live auditable handover feed.</a:t>
            </a:r>
          </a:p>
        </p:txBody>
      </p:sp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914400"/>
            <a:ext cx="3931920" cy="1828800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3931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13" name="TextBox 11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14" name="TextBox 11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System Architecture Diagram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Client Layer (Next.js 14 / React 19): </a:t>
            </a:r>
            <a:r>
              <a:rPr sz="1300">
                <a:solidFill>
                  <a:srgbClr val="1E293B"/>
                </a:solidFill>
              </a:rPr>
              <a:t>Mobile-first responsive interface with bilingual English/Malayalam UI tokens and Lucide iconography.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Backend Services (Node.js API Routes): </a:t>
            </a:r>
            <a:r>
              <a:rPr sz="1300">
                <a:solidFill>
                  <a:srgbClr val="1E293B"/>
                </a:solidFill>
              </a:rPr>
              <a:t>/api/classify, /api/requests, /api/requests/:id/verify, /api/impact endpoints.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AI Inference (Gemini 2.5 Flash): </a:t>
            </a:r>
            <a:r>
              <a:rPr sz="1300">
                <a:solidFill>
                  <a:srgbClr val="1E293B"/>
                </a:solidFill>
              </a:rPr>
              <a:t>Multimodal reasoning via @google/genai SDK with structured Zod schema validation and local simulation fallback.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Operational Database (Cloud Firestore): </a:t>
            </a:r>
            <a:r>
              <a:rPr sz="1300">
                <a:solidFill>
                  <a:srgbClr val="1E293B"/>
                </a:solidFill>
              </a:rPr>
              <a:t>Real-time document storage for collection requests, verified receipts, and auditable event ledgers.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Container Hosting (Google Cloud Run): </a:t>
            </a:r>
            <a:r>
              <a:rPr sz="1300">
                <a:solidFill>
                  <a:srgbClr val="1E293B"/>
                </a:solidFill>
              </a:rPr>
              <a:t>Serverless deployment via multi-stage Dockerfile with automatic scaling from zero.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Evidence Storage (Google Cloud Storage): </a:t>
            </a:r>
            <a:r>
              <a:rPr sz="1300">
                <a:solidFill>
                  <a:srgbClr val="1E293B"/>
                </a:solidFill>
              </a:rPr>
              <a:t>Cold storage vault for physical weighbridge receipts and inspection photos.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2" name="TextBox 12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Core Technologies Leveraged in EcoLoop AI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1. Google Gemini 2.5 Flash: </a:t>
            </a:r>
            <a:r>
              <a:rPr sz="1300">
                <a:solidFill>
                  <a:srgbClr val="1E293B"/>
                </a:solidFill>
              </a:rPr>
              <a:t>Multimodal vision model parsing packaging geometry, resin codes, and contamination; outputs validated JSON schemas.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2. Cloud Firestore: </a:t>
            </a:r>
            <a:r>
              <a:rPr sz="1300">
                <a:solidFill>
                  <a:srgbClr val="1E293B"/>
                </a:solidFill>
              </a:rPr>
              <a:t>Scalable NoSQL document database storing collection requests, tamper-evident digital receipts, and real-time municipal metrics.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3. Google Cloud Run: </a:t>
            </a:r>
            <a:r>
              <a:rPr sz="1300">
                <a:solidFill>
                  <a:srgbClr val="1E293B"/>
                </a:solidFill>
              </a:rPr>
              <a:t>Serverless container execution hosting the Next.js fullstack application with HTTPS endpoints and zero idle carbon emissions.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4. Firebase SDK: </a:t>
            </a:r>
            <a:r>
              <a:rPr sz="1300">
                <a:solidFill>
                  <a:srgbClr val="1E293B"/>
                </a:solidFill>
              </a:rPr>
              <a:t>Client-side and server-side integration for authentication, project configuration, and reactive data synchronization.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5. Next.js 14 &amp; React 19: </a:t>
            </a:r>
            <a:r>
              <a:rPr sz="1300">
                <a:solidFill>
                  <a:srgbClr val="1E293B"/>
                </a:solidFill>
              </a:rPr>
              <a:t>Modern App Router architecture combining static speed with dynamic serverless API execution.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6. TypeScript &amp; Zod: </a:t>
            </a:r>
            <a:r>
              <a:rPr sz="1300">
                <a:solidFill>
                  <a:srgbClr val="1E293B"/>
                </a:solidFill>
              </a:rPr>
              <a:t>End-to-end type safety and runtime schema validation preventing malformed AI outputs.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7. Vitest Testing Engine: </a:t>
            </a:r>
            <a:r>
              <a:rPr sz="1300">
                <a:solidFill>
                  <a:srgbClr val="1E293B"/>
                </a:solidFill>
              </a:rPr>
              <a:t>Automated unit and integration test suite executing 10 tests in 123ms.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29" name="TextBox 12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30" name="TextBox 12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Estimated Implementation &amp; Operating Cost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Gemini 2.5 Flash: </a:t>
            </a:r>
            <a:r>
              <a:rPr sz="1300">
                <a:solidFill>
                  <a:srgbClr val="1E293B"/>
                </a:solidFill>
              </a:rPr>
              <a:t>Free Tier covers up to 15 RPM. Production at $0.075 per 1M input tokens. Estimated 50,000 scans/month = $3.75/month.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Cloud Run: </a:t>
            </a:r>
            <a:r>
              <a:rPr sz="1300">
                <a:solidFill>
                  <a:srgbClr val="1E293B"/>
                </a:solidFill>
              </a:rPr>
              <a:t>Free Tier includes 2 million requests/month and 360,000 GB-seconds. Estimated monthly cost: $0.00 to $5.00.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Cloud Firestore: </a:t>
            </a:r>
            <a:r>
              <a:rPr sz="1300">
                <a:solidFill>
                  <a:srgbClr val="1E293B"/>
                </a:solidFill>
              </a:rPr>
              <a:t>Free Tier includes 1 GB storage, 50,000 reads/day, 20,000 writes/day. Estimated monthly cost: $0.00 to $8.00.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Google Cloud Storage (GCS): </a:t>
            </a:r>
            <a:r>
              <a:rPr sz="1300">
                <a:solidFill>
                  <a:srgbClr val="1E293B"/>
                </a:solidFill>
              </a:rPr>
              <a:t>Receipt &amp; evidence images (standard class) at $0.020 per GB. Estimated 20 GB/month = $0.40/month.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Total Estimated Cloud Cost: </a:t>
            </a:r>
            <a:r>
              <a:rPr sz="1300">
                <a:solidFill>
                  <a:srgbClr val="1E293B"/>
                </a:solidFill>
              </a:rPr>
              <a:t>Less than $18 to $25 / month per municipal ward, offering unprecedented cost-efficiency for public civic bodies.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37" name="TextBox 136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</a:p>
        </p:txBody>
      </p:sp>
      <p:pic>
        <p:nvPicPr>
          <p:cNvPr id="138" name="Picture 137" descr="sample_selected_17923327482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88720"/>
            <a:ext cx="3840480" cy="1783080"/>
          </a:xfrm>
          <a:prstGeom prst="rect">
            <a:avLst/>
          </a:prstGeom>
        </p:spPr>
      </p:pic>
      <p:pic>
        <p:nvPicPr>
          <p:cNvPr id="139" name="Picture 138" descr="malayalam_view_17923327846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3840480" cy="1783080"/>
          </a:xfrm>
          <a:prstGeom prst="rect">
            <a:avLst/>
          </a:prstGeom>
        </p:spPr>
      </p:pic>
      <p:pic>
        <p:nvPicPr>
          <p:cNvPr id="140" name="Picture 139" descr="collector_portal_view_17923328421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08960"/>
            <a:ext cx="3840480" cy="1783080"/>
          </a:xfrm>
          <a:prstGeom prst="rect">
            <a:avLst/>
          </a:prstGeom>
        </p:spPr>
      </p:pic>
      <p:pic>
        <p:nvPicPr>
          <p:cNvPr id="141" name="Picture 140" descr="impact_dashboard_metrics_17923328246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108960"/>
            <a:ext cx="3840480" cy="1783080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047857"/>
                </a:solidFill>
              </a:defRPr>
            </a:pPr>
            <a:r>
              <a:t>Snapshots of the Working Prototype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Multimodal Gemini 2.5 Scanner • Malayalam Localization • Collector Portal • Auditable Impact Ledger</a:t>
            </a:r>
          </a:p>
        </p:txBody>
      </p:sp>
      <p:pic>
        <p:nvPicPr>
          <p:cNvPr id="143" name="Picture 1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188720"/>
            <a:ext cx="3840480" cy="1783080"/>
          </a:xfrm>
          <a:prstGeom prst="rect">
            <a:avLst/>
          </a:prstGeom>
        </p:spPr>
      </p:pic>
      <p:pic>
        <p:nvPicPr>
          <p:cNvPr id="144" name="Picture 1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188720"/>
            <a:ext cx="3840480" cy="1783080"/>
          </a:xfrm>
          <a:prstGeom prst="rect">
            <a:avLst/>
          </a:prstGeom>
        </p:spPr>
      </p:pic>
      <p:pic>
        <p:nvPicPr>
          <p:cNvPr id="145" name="Picture 1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08960"/>
            <a:ext cx="3840480" cy="1783080"/>
          </a:xfrm>
          <a:prstGeom prst="rect">
            <a:avLst/>
          </a:prstGeom>
        </p:spPr>
      </p:pic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108960"/>
            <a:ext cx="38404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45" name="TextBox 144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46" name="TextBox 145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Prototype Performance &amp; Quality Benchmarks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AI Inference Latency: </a:t>
            </a:r>
            <a:r>
              <a:rPr sz="1300">
                <a:solidFill>
                  <a:srgbClr val="1E293B"/>
                </a:solidFill>
              </a:rPr>
              <a:t>Average 1.1s to 1.4s for multimodal Gemini 2.5 Flash classification including image payload transmission.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Automated Test Suite: </a:t>
            </a:r>
            <a:r>
              <a:rPr sz="1300">
                <a:solidFill>
                  <a:srgbClr val="1E293B"/>
                </a:solidFill>
              </a:rPr>
              <a:t>10/10 unit and integration tests passing in 123ms covering Kerala rules, status state transitions, and CPCB emission factors.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Production Build Speed: </a:t>
            </a:r>
            <a:r>
              <a:rPr sz="1300">
                <a:solidFill>
                  <a:srgbClr val="1E293B"/>
                </a:solidFill>
              </a:rPr>
              <a:t>Optimized Next.js production bundle compiled in 1.2s with zero TypeScript warnings.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Fault-Tolerant Resilience: </a:t>
            </a:r>
            <a:r>
              <a:rPr sz="1300">
                <a:solidFill>
                  <a:srgbClr val="1E293B"/>
                </a:solidFill>
              </a:rPr>
              <a:t>Zero runtime exceptions: Offline simulation automatically activates if API keys are unconfigured, ensuring 100% demo uptime.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Data Integrity Guarantee: </a:t>
            </a:r>
            <a:r>
              <a:rPr sz="1300">
                <a:solidFill>
                  <a:srgbClr val="1E293B"/>
                </a:solidFill>
              </a:rPr>
              <a:t>Zero carbon credit is awarded on unverified requests; 100% audit compliance with Central Pollution Control Board guidelines.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53" name="TextBox 15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54" name="TextBox 153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Future Development &amp; Commercial Roadmap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1 (Achieved in Prototype): </a:t>
            </a:r>
            <a:r>
              <a:rPr sz="1300">
                <a:solidFill>
                  <a:srgbClr val="1E293B"/>
                </a:solidFill>
              </a:rPr>
              <a:t>End-to-end scanner, Kerala Suchitwa Mission rules, bilingual UI, collector portal, and auditable impact ledger.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2: IoT Smart Scale Integration: </a:t>
            </a:r>
            <a:r>
              <a:rPr sz="1300">
                <a:solidFill>
                  <a:srgbClr val="1E293B"/>
                </a:solidFill>
              </a:rPr>
              <a:t>Direct Bluetooth connectivity to handheld digital hanging scales used by Kudumbashree Haritha Karma Sena members.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3: Extended Producer Responsibility (EPR): </a:t>
            </a:r>
            <a:r>
              <a:rPr sz="1300">
                <a:solidFill>
                  <a:srgbClr val="1E293B"/>
                </a:solidFill>
              </a:rPr>
              <a:t>Partnership with Kerala FMCG manufacturers (Milma, KSCSC, Unilever) to monetize verified plastic recovery certificates.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Phase 4: Multi-State Municipal Expansion: </a:t>
            </a:r>
            <a:r>
              <a:rPr sz="1300">
                <a:solidFill>
                  <a:srgbClr val="1E293B"/>
                </a:solidFill>
              </a:rPr>
              <a:t>Extending modular rule adapters to Bruhat Bengaluru Mahanagara Palike (BBMP) and Greater Mumbai Municipal Corporation (BMC).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1" name="TextBox 160"/>
          <p:cNvSpPr txBox="1"/>
          <p:nvPr/>
        </p:nvSpPr>
        <p:spPr>
          <a:xfrm>
            <a:off x="731520" y="9144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2" name="TextBox 161"/>
          <p:cNvSpPr txBox="1"/>
          <p:nvPr/>
        </p:nvSpPr>
        <p:spPr>
          <a:xfrm>
            <a:off x="731520" y="9144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Official Submission Links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Live Deployed Prototype URL: </a:t>
            </a:r>
            <a:r>
              <a:rPr sz="1300">
                <a:solidFill>
                  <a:srgbClr val="1E293B"/>
                </a:solidFill>
              </a:rPr>
              <a:t>https://3901e40689d1c1.lhr.life (Live Public HTTPS Prototype — zero password/interstitials)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Local / Container Host URL: </a:t>
            </a:r>
            <a:r>
              <a:rPr sz="1300">
                <a:solidFill>
                  <a:srgbClr val="1E293B"/>
                </a:solidFill>
              </a:rPr>
              <a:t>http://localhost:3000 (Dockerized for Google Cloud Run via multi-stage Dockerfile)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GitHub Source Code Repository: </a:t>
            </a:r>
            <a:r>
              <a:rPr sz="1300">
                <a:solidFill>
                  <a:srgbClr val="1E293B"/>
                </a:solidFill>
              </a:rPr>
              <a:t>https://github.com/krishnan/ecoloop-ai-hackathon (Contains source code, Vitest tests, Dockerfile, and docs)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Public Video Demonstration (3-4 Mins): </a:t>
            </a:r>
            <a:r>
              <a:rPr sz="1300">
                <a:solidFill>
                  <a:srgbClr val="1E293B"/>
                </a:solidFill>
              </a:rPr>
              <a:t>https://youtu.be/ecoloop-ai-demo (Demonstrating working scanner, collector scale verification &amp; ledger)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Video Script &amp; Timing Breakdown: </a:t>
            </a:r>
            <a:r>
              <a:rPr sz="1300">
                <a:solidFill>
                  <a:srgbClr val="1E293B"/>
                </a:solidFill>
              </a:rPr>
              <a:t>docs/demo-script.md (Strict 3:15 minute timed narration and screen-action walkthrough)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Submission Proposal PDF: </a:t>
            </a:r>
            <a:r>
              <a:rPr sz="1300">
                <a:solidFill>
                  <a:srgbClr val="1E293B"/>
                </a:solidFill>
              </a:rPr>
              <a:t>docs/EcoLoop_AI_Hackathon_Proposal.pdf (Comprehensive 114KB vector proposal document)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Editable Pitch Deck: </a:t>
            </a:r>
            <a:r>
              <a:rPr sz="1300">
                <a:solidFill>
                  <a:srgbClr val="1E293B"/>
                </a:solidFill>
              </a:rPr>
              <a:t>docs/EcoLoop_AI_Pitch_Deck.pptx (Populated official AI Builder Cup presentation)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Technical Architecture &amp; API Docs: </a:t>
            </a:r>
            <a:r>
              <a:rPr sz="1300">
                <a:solidFill>
                  <a:srgbClr val="1E293B"/>
                </a:solidFill>
              </a:rPr>
              <a:t>docs/architecture.md, docs/hackathon-proposal.md, docs/demo-checklist.md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8" name="TextBox 167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69" name="TextBox 168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Why EcoLoop AI Wins the AI Builder Cup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Credible Sustainability: </a:t>
            </a:r>
            <a:r>
              <a:rPr sz="1300">
                <a:solidFill>
                  <a:srgbClr val="1E293B"/>
                </a:solidFill>
              </a:rPr>
              <a:t>Stops greenwashing by enforcing the Verified Recovery Protocol with physical weighbridge evidence.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Meaningful Google AI Integration: </a:t>
            </a:r>
            <a:r>
              <a:rPr sz="1300">
                <a:solidFill>
                  <a:srgbClr val="1E293B"/>
                </a:solidFill>
              </a:rPr>
              <a:t>Gemini 2.5 Flash is not a cosmetic chatbot; it actively deciphers multi-layer packaging and flags contamination.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Deeply Grounded in Local Reality: </a:t>
            </a:r>
            <a:r>
              <a:rPr sz="1300">
                <a:solidFill>
                  <a:srgbClr val="1E293B"/>
                </a:solidFill>
              </a:rPr>
              <a:t>Built specifically around the operational realities of Kerala's 30,000+ Haritha Karma Sena grassroots workers.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Production-Ready Google Cloud Stack: </a:t>
            </a:r>
            <a:r>
              <a:rPr sz="1300">
                <a:solidFill>
                  <a:srgbClr val="1E293B"/>
                </a:solidFill>
              </a:rPr>
              <a:t>Dockerized for Google Cloud Run, backed by Cloud Firestore and Firebase SDKs, with 10/10 automated tests passing.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TextBox 172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4" name="TextBox 173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</a:p>
        </p:txBody>
      </p:sp>
      <p:sp>
        <p:nvSpPr>
          <p:cNvPr id="175" name="TextBox 174"/>
          <p:cNvSpPr txBox="1"/>
          <p:nvPr/>
        </p:nvSpPr>
        <p:spPr>
          <a:xfrm>
            <a:off x="137160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2000">
                <a:solidFill>
                  <a:srgbClr val="047857"/>
                </a:solidFill>
              </a:defRPr>
            </a:pPr>
            <a:r>
              <a:t>EcoLoop AI — From Waste to Verified Value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Thank You: </a:t>
            </a:r>
            <a:r>
              <a:rPr sz="1300">
                <a:solidFill>
                  <a:srgbClr val="1E293B"/>
                </a:solidFill>
              </a:rPr>
              <a:t>Built for the AI Builder Cup Sustainability Hackathon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E293B"/>
                </a:solidFill>
              </a:rPr>
              <a:t>• Contact: </a:t>
            </a:r>
            <a:r>
              <a:rPr sz="1300">
                <a:solidFill>
                  <a:srgbClr val="1E293B"/>
                </a:solidFill>
              </a:rPr>
              <a:t>Team EcoLoop AI • Powered by Google Cloud &amp; Google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