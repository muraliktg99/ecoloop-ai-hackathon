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B0B2479-793D-4F7E-ACEC-5E685682048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993EC1-C1A5-4133-BDEA-BFAC9866091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02F476-91D6-485D-9771-DA51BA2720E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55BB244-DDCF-4FAB-A339-3ADB45C57CA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CB100F-CE18-4304-985D-B578802A601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3180F2-F71B-4314-AAFD-0C129423971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6E35573-077D-4006-97EC-1F69B868C06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26AB70-44AE-4566-B73B-7BF0E9EA0E4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C84F6A-DCE5-4921-B8EF-EF7696BC291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AFC8970-02EB-45AE-9A63-8029522E880E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FC5287F-2E90-4FDF-A774-786617AD7BA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52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IN" sz="5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B88352-B680-4931-8169-857D701E310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IN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4EBA85-0E30-476C-A9B8-D4AD8D69A69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AAB15F-A1CB-4074-A312-9A53DC7B0FC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BF474E-AE0E-4DB2-9628-79F5BB0919A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F5618B-1D02-4767-999A-05238F2B2B9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593A7A-EDBF-466A-8399-A6AB593F484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75BA8D-2F81-40C9-AD6F-2C4104C85D0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AD5BA4-8C3B-4C32-AA80-148079CF923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1A58A9-3EE9-4F5C-B013-E46FDF84850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EB79C5-7DEC-4FD4-BA01-0113E5DF5D7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ADF2ED-2FF7-4BC0-87AA-3F1ECCBB791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9.png"/><Relationship Id="rId1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54;p13"/>
          <p:cNvSpPr/>
          <p:nvPr/>
        </p:nvSpPr>
        <p:spPr>
          <a:xfrm>
            <a:off x="144000" y="2592000"/>
            <a:ext cx="8546040" cy="177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IN" sz="3600" spc="-1" strike="noStrike">
                <a:solidFill>
                  <a:srgbClr val="047857"/>
                </a:solidFill>
                <a:latin typeface="Arial"/>
                <a:ea typeface="Arial"/>
              </a:rPr>
              <a:t>EcoLoop AI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IN" sz="1400" spc="-1" strike="noStrike">
                <a:solidFill>
                  <a:srgbClr val="047857"/>
                </a:solidFill>
                <a:latin typeface="Arial"/>
                <a:ea typeface="Arial"/>
              </a:rPr>
              <a:t>Project Name: </a:t>
            </a:r>
            <a:r>
              <a:rPr b="0" lang="en-IN" sz="1400" spc="-1" strike="noStrike">
                <a:solidFill>
                  <a:srgbClr val="1e293b"/>
                </a:solidFill>
                <a:latin typeface="Arial"/>
                <a:ea typeface="Arial"/>
              </a:rPr>
              <a:t>EcoLoop AI — From Waste to Verified Value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IN" sz="1400" spc="-1" strike="noStrike">
                <a:solidFill>
                  <a:srgbClr val="047857"/>
                </a:solidFill>
                <a:latin typeface="Arial"/>
                <a:ea typeface="Arial"/>
              </a:rPr>
              <a:t>Challenge Track: </a:t>
            </a:r>
            <a:r>
              <a:rPr b="0" lang="en-IN" sz="1400" spc="-1" strike="noStrike">
                <a:solidFill>
                  <a:srgbClr val="1e293b"/>
                </a:solidFill>
                <a:latin typeface="Arial"/>
                <a:ea typeface="Arial"/>
              </a:rPr>
              <a:t>AI Builder Cup — Sustainability &amp; Circular Economy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IN" sz="1400" spc="-1" strike="noStrike">
                <a:solidFill>
                  <a:srgbClr val="047857"/>
                </a:solidFill>
                <a:latin typeface="Arial"/>
                <a:ea typeface="Arial"/>
              </a:rPr>
              <a:t>Team Name: </a:t>
            </a:r>
            <a:r>
              <a:rPr b="0" lang="en-IN" sz="1400" spc="-1" strike="noStrike">
                <a:solidFill>
                  <a:srgbClr val="1e293b"/>
                </a:solidFill>
                <a:latin typeface="Arial"/>
                <a:ea typeface="Arial"/>
              </a:rPr>
              <a:t> Kinetix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IN" sz="1400" spc="-1" strike="noStrike">
                <a:solidFill>
                  <a:srgbClr val="047857"/>
                </a:solidFill>
                <a:latin typeface="Arial"/>
                <a:ea typeface="Arial"/>
              </a:rPr>
              <a:t>Team Leader: </a:t>
            </a:r>
            <a:r>
              <a:rPr b="0" lang="en-IN" sz="1400" spc="-1" strike="noStrike">
                <a:solidFill>
                  <a:srgbClr val="1e293b"/>
                </a:solidFill>
                <a:latin typeface="Arial"/>
                <a:ea typeface="Arial"/>
              </a:rPr>
              <a:t>Krishnan (Lead Solution Architect &amp; Fullstack Engineer)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IN" sz="1400" spc="-1" strike="noStrike">
                <a:solidFill>
                  <a:srgbClr val="047857"/>
                </a:solidFill>
                <a:latin typeface="Arial"/>
                <a:ea typeface="Arial"/>
              </a:rPr>
              <a:t>Problem Statement: </a:t>
            </a:r>
            <a:r>
              <a:rPr b="0" lang="en-IN" sz="1400" spc="-1" strike="noStrike">
                <a:solidFill>
                  <a:srgbClr val="1e293b"/>
                </a:solidFill>
                <a:latin typeface="Arial"/>
                <a:ea typeface="Arial"/>
              </a:rPr>
              <a:t>Municipal waste segregation failure, household packaging confusion, and the greenwashing gap of unverified recycling claims in circular economies.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Google Shape;55;p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2715120"/>
          </a:xfrm>
          <a:prstGeom prst="rect">
            <a:avLst/>
          </a:prstGeom>
          <a:ln w="0">
            <a:noFill/>
          </a:ln>
        </p:spPr>
      </p:pic>
      <p:pic>
        <p:nvPicPr>
          <p:cNvPr id="39" name="Google Shape;56;p13" descr=""/>
          <p:cNvPicPr/>
          <p:nvPr/>
        </p:nvPicPr>
        <p:blipFill>
          <a:blip r:embed="rId2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1;p14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62;p14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2" name="Google Shape;63;p14"/>
          <p:cNvSpPr/>
          <p:nvPr/>
        </p:nvSpPr>
        <p:spPr>
          <a:xfrm>
            <a:off x="5092560" y="1968840"/>
            <a:ext cx="3310920" cy="12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100" spc="-1" strike="noStrike">
              <a:solidFill>
                <a:schemeClr val="lt1"/>
              </a:solidFill>
              <a:latin typeface="Google Sans Flex"/>
              <a:ea typeface="Google Sans Flex"/>
            </a:endParaRPr>
          </a:p>
        </p:txBody>
      </p:sp>
      <p:sp>
        <p:nvSpPr>
          <p:cNvPr id="43" name="TextBox 64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44" name="TextBox 65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45" name="TextBox 66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46" name="TextBox 67"/>
          <p:cNvSpPr/>
          <p:nvPr/>
        </p:nvSpPr>
        <p:spPr>
          <a:xfrm>
            <a:off x="731520" y="1097280"/>
            <a:ext cx="7680600" cy="25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Executive Summary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The Core Mission: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Transform household waste segregation into an auditable circular economy chain of custody.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The Differentiator: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Verified Recovery Protocol: Zero environmental impact is reported merely on image scans or user clicks. Credit is unlocked only after physical scale verification by authorized collectors.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Target Context: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Kerala, India — Empowering 30,000+ Haritha Karma Sena grassroots women collectors under Suchitwa Mission &amp; Clean Kerala Company.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Google Technology Stack: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Google Gemini 2.5 Flash multimodal vision, Cloud Firestore real-time NoSQL store, Google Cloud Run serverless deployment, and Firebase SDK integration.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69;p1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70;p15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9" name="Google Shape;71;p15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50" name="TextBox 71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51" name="TextBox 72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52" name="TextBox 73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53" name="TextBox 74"/>
          <p:cNvSpPr/>
          <p:nvPr/>
        </p:nvSpPr>
        <p:spPr>
          <a:xfrm>
            <a:off x="731520" y="1097280"/>
            <a:ext cx="7680600" cy="24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Brief About the Idea — EcoLoop AI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The Problem: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Households want to recycle, but resin ambiguity (e.g. multi-layer polymer pouches vs rigid PET) and grease contamination ruin collection batches. Meanwhile, green apps reward users for unverified clicks.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The Solution: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EcoLoop AI pairs Google Gemini 2.5 Flash with a deterministic municipal rules engine and a digital weighbridge receipt workflow.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End-to-End Journey: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Household snaps photo -&gt; Gemini identifies material &amp; checks contamination -&gt; Kerala Suchitwa Mission rules guide preparation in Malayalam &amp; English -&gt; Handover request is scheduled -&gt; Collector physically weighs item and deducts contamination -&gt; Certified receipt issues real-time carbon &amp; landfill diversion credit.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76;p16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55" name="Google Shape;77;p1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78;p16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7" name="Google Shape;79;p16"/>
          <p:cNvSpPr/>
          <p:nvPr/>
        </p:nvSpPr>
        <p:spPr>
          <a:xfrm>
            <a:off x="265320" y="663840"/>
            <a:ext cx="89427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SemiBold"/>
              <a:ea typeface="Google Sans Flex SemiBold"/>
            </a:endParaRPr>
          </a:p>
        </p:txBody>
      </p:sp>
      <p:sp>
        <p:nvSpPr>
          <p:cNvPr id="58" name="TextBox 79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59" name="TextBox 80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60" name="TextBox 81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61" name="TextBox 82"/>
          <p:cNvSpPr/>
          <p:nvPr/>
        </p:nvSpPr>
        <p:spPr>
          <a:xfrm>
            <a:off x="731520" y="1097280"/>
            <a:ext cx="7680600" cy="30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Opportunities &amp; Unique Selling Proposition (USP)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How Different From Existing Solutions?: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Traditional apps stop at AI detection or passive mapping. EcoLoop AI introduces physical chain-of-custody verification: waste is tracked through certified scales before claiming environmental impact.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How It Solves the Problem: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Prevents cross-contamination at the doorstep by providing localized cleaning/drying protocols (Suchitwa Mission) in both English and Malayalam.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Core USP #1 - Verified Recovery: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Doorstep scale readings with wet-contamination deduction eliminate greenwashing and fake self-reported numbers.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Core USP #2 - Calibrated AI Uncertainty: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Gemini openly flags when image resolution cannot definitively identify polymer layers, triggering human review rather than guessing.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Core USP #3 - Extended Producer Responsibility (EPR):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Auditable digital receipts provide FMCG brands with proof of statutory plastic waste diversion.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84;p17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85;p1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64" name="Google Shape;86;p17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5" name="Google Shape;87;p17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66" name="TextBox 87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67" name="TextBox 88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68" name="TextBox 89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69" name="TextBox 90"/>
          <p:cNvSpPr/>
          <p:nvPr/>
        </p:nvSpPr>
        <p:spPr>
          <a:xfrm>
            <a:off x="731520" y="1097280"/>
            <a:ext cx="7680600" cy="37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Key Features Offered by EcoLoop AI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1. Multimodal AI Waste Scanner: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Powered by Google Gemini 2.5 Flash via @google/genai SDK for instant polymer, resin, and hazard identification.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2. Contamination &amp; Resin Detection: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Distinguishes rigid PET/HDPE from multi-layer flexible packaging (MLP) and detects food/grease contamination on cardboard.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3. Bilingual Localization (EN / ML):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Complete UI and municipal directives available in English and Malayalam for grassroots accessibility.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4. Curated Kerala Recovery Hubs: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Direct routing to Haritha Karma Sena Ward Collection Centers, Clean Kerala Company RRFs, and authorized scrap recyclers.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5. Handover Request State Machine: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Full lifecycle tracking across pending, scheduled, accepted, and doorstep-rejected states.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6. Collector Weighbridge Verification Portal: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Role-authorized PIN workflow allowing collectors to log certified scale readings and issue receipts.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7. Auditable Sustainability Impact Ledger: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Calculates Landfill Diverted (kg), Avoided GHG (kg CO2e), and Water/Energy savings via CPCB/WARM conversion models.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92;p18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71" name="Google Shape;93;p1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94;p18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3" name="Google Shape;95;p18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74" name="TextBox 95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75" name="TextBox 96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76" name="TextBox 97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77" name="TextBox 98"/>
          <p:cNvSpPr/>
          <p:nvPr/>
        </p:nvSpPr>
        <p:spPr>
          <a:xfrm>
            <a:off x="731520" y="1097280"/>
            <a:ext cx="7680600" cy="35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Process Flow &amp; Use-Case Diagram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Step 1: Household Capture: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Resident uploads a photo of discarded packaging or selects a curated sample item.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Step 2: Gemini 2.5 Multimodal Analysis: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AI analyzes visual cues, transparency, and packaging geometry; extracts structured JSON with confidence and contamination flags.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Step 3: Kerala Rules Engine Filter: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Cross-references item with Suchitwa Mission &amp; Clean Kerala Co. rules to generate preparation steps and assign collection day.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Step 4: Handover Request Creation: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Resident logs pickup request with estimated weight and ward address.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Step 5: Physical Scale Handover: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Haritha Karma Sena collector inspects material, inputs gross scale weight, and deducts contamination.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Step 6: Tamper-Evident Receipt: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Digital certificate (RCP-XXXXXX) issued to resident.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Step 7: Real-Time Ledger Update: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Verified net weight increments municipal landfill diversion and CPCB carbon offset metrics.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00;p19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101;p19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102;p19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1" name="Google Shape;103;p19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82" name="TextBox 103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83" name="TextBox 104"/>
          <p:cNvSpPr/>
          <p:nvPr/>
        </p:nvSpPr>
        <p:spPr>
          <a:xfrm>
            <a:off x="548640" y="914400"/>
            <a:ext cx="40230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pic>
        <p:nvPicPr>
          <p:cNvPr id="84" name="Picture 105" descr="home_view_1792332736713.png"/>
          <p:cNvPicPr/>
          <p:nvPr/>
        </p:nvPicPr>
        <p:blipFill>
          <a:blip r:embed="rId3"/>
          <a:stretch/>
        </p:blipFill>
        <p:spPr>
          <a:xfrm>
            <a:off x="4754880" y="914400"/>
            <a:ext cx="3931560" cy="182844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106" descr="guidance_card_view_1792332769618.png"/>
          <p:cNvPicPr/>
          <p:nvPr/>
        </p:nvPicPr>
        <p:blipFill>
          <a:blip r:embed="rId4"/>
          <a:stretch/>
        </p:blipFill>
        <p:spPr>
          <a:xfrm>
            <a:off x="4754880" y="2926080"/>
            <a:ext cx="3931560" cy="1828440"/>
          </a:xfrm>
          <a:prstGeom prst="rect">
            <a:avLst/>
          </a:prstGeom>
          <a:ln w="0">
            <a:noFill/>
          </a:ln>
        </p:spPr>
      </p:pic>
      <p:sp>
        <p:nvSpPr>
          <p:cNvPr id="86" name="TextBox 107"/>
          <p:cNvSpPr/>
          <p:nvPr/>
        </p:nvSpPr>
        <p:spPr>
          <a:xfrm>
            <a:off x="548640" y="914400"/>
            <a:ext cx="40230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pic>
        <p:nvPicPr>
          <p:cNvPr id="87" name="Picture 108" descr="image.png"/>
          <p:cNvPicPr/>
          <p:nvPr/>
        </p:nvPicPr>
        <p:blipFill>
          <a:blip r:embed="rId5"/>
          <a:stretch/>
        </p:blipFill>
        <p:spPr>
          <a:xfrm>
            <a:off x="4754880" y="914400"/>
            <a:ext cx="3931560" cy="182844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109" descr="image.png"/>
          <p:cNvPicPr/>
          <p:nvPr/>
        </p:nvPicPr>
        <p:blipFill>
          <a:blip r:embed="rId6"/>
          <a:stretch/>
        </p:blipFill>
        <p:spPr>
          <a:xfrm>
            <a:off x="4754880" y="2926080"/>
            <a:ext cx="3931560" cy="1828440"/>
          </a:xfrm>
          <a:prstGeom prst="rect">
            <a:avLst/>
          </a:prstGeom>
          <a:ln w="0">
            <a:noFill/>
          </a:ln>
        </p:spPr>
      </p:pic>
      <p:sp>
        <p:nvSpPr>
          <p:cNvPr id="89" name="TextBox 110"/>
          <p:cNvSpPr/>
          <p:nvPr/>
        </p:nvSpPr>
        <p:spPr>
          <a:xfrm>
            <a:off x="548640" y="914400"/>
            <a:ext cx="4023000" cy="41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UI Wireframes &amp; Component Hierarchy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View 1 - AI Waste Scanner: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Hero banner, sample selector (Milma pouch, PET bottle, box, battery), real-time reasoning ticker.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View 2 - Dynamic Guidance Card: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Certainty score badge, contamination alert, Suchitwa Mission cleaning/drying steps.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View 3 - Kerala Recovery Hubs: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District and material category filters, collection calendars, facility addresses.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View 4 - Collector Portal: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PIN-gated queue of pending pickups, certified scale weight entry, tamper-evident receipts.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View 5 - Impact Ledger: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Verified landfill kg diverted, avoided CO2e, and live auditable handover feed.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111" descr="image.png"/>
          <p:cNvPicPr/>
          <p:nvPr/>
        </p:nvPicPr>
        <p:blipFill>
          <a:blip r:embed="rId7"/>
          <a:stretch/>
        </p:blipFill>
        <p:spPr>
          <a:xfrm>
            <a:off x="4754880" y="914400"/>
            <a:ext cx="3931560" cy="182844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112" descr="image.png"/>
          <p:cNvPicPr/>
          <p:nvPr/>
        </p:nvPicPr>
        <p:blipFill>
          <a:blip r:embed="rId8"/>
          <a:stretch/>
        </p:blipFill>
        <p:spPr>
          <a:xfrm>
            <a:off x="4754880" y="2926080"/>
            <a:ext cx="3931560" cy="182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08;p20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93" name="Google Shape;109;p20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94" name="Google Shape;110;p20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5" name="Google Shape;111;p20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96" name="TextBox 111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97" name="TextBox 112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98" name="TextBox 113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99" name="TextBox 114"/>
          <p:cNvSpPr/>
          <p:nvPr/>
        </p:nvSpPr>
        <p:spPr>
          <a:xfrm>
            <a:off x="731520" y="1097280"/>
            <a:ext cx="7680600" cy="33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System Architecture Diagram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Client Layer (Next.js 14 / React 19):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Mobile-first responsive interface with bilingual English/Malayalam UI tokens and Lucide iconography.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Backend Services (Node.js API Routes):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/api/classify, /api/requests, /api/requests/:id/verify, /api/impact endpoints.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Google AI Inference (Gemini 2.5 Flash):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Multimodal reasoning via @google/genai SDK with structured Zod schema validation and local simulation fallback.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Operational Database (Cloud Firestore):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Real-time document storage for collection requests, verified receipts, and auditable event ledgers.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Container Hosting (Google Cloud Run):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Serverless deployment via multi-stage Dockerfile with automatic scaling from zero.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Evidence Storage (Google Cloud Storage):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Cold storage vault for physical weighbridge receipts and inspection photos.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16;p21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01" name="Google Shape;117;p2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02" name="Google Shape;118;p21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3" name="Google Shape;119;p21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104" name="TextBox 119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05" name="TextBox 120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06" name="TextBox 121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07" name="TextBox 122"/>
          <p:cNvSpPr/>
          <p:nvPr/>
        </p:nvSpPr>
        <p:spPr>
          <a:xfrm>
            <a:off x="731520" y="1097280"/>
            <a:ext cx="7680600" cy="35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Core Technologies Leveraged in EcoLoop AI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1. Google Gemini 2.5 Flash: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Multimodal vision model parsing packaging geometry, resin codes, and contamination; outputs validated JSON schemas.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2. Cloud Firestore: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Scalable NoSQL document database storing collection requests, tamper-evident digital receipts, and real-time municipal metrics.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3. Google Cloud Run: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Serverless container execution hosting the Next.js fullstack application with HTTPS endpoints and zero idle carbon emissions.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4. Firebase SDK: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Client-side and server-side integration for authentication, project configuration, and reactive data synchronization.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5. Next.js 14 &amp; React 19: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Modern App Router architecture combining static speed with dynamic serverless API execution.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6. TypeScript &amp; Zod: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End-to-end type safety and runtime schema validation preventing malformed AI outputs.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7. Vitest Testing Engine: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Automated unit and integration test suite executing 10 tests in 123ms.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24;p22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125;p2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10" name="Google Shape;126;p22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1" name="Google Shape;127;p22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112" name="TextBox 127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13" name="TextBox 128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14" name="TextBox 129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15" name="TextBox 130"/>
          <p:cNvSpPr/>
          <p:nvPr/>
        </p:nvSpPr>
        <p:spPr>
          <a:xfrm>
            <a:off x="731520" y="1097280"/>
            <a:ext cx="7680600" cy="28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Estimated Implementation &amp; Operating Cost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Google Gemini 2.5 Flash: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Free Tier covers up to 15 RPM. Production at $0.075 per 1M input tokens. Estimated 50,000 scans/month = $3.75/month.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Google Cloud Run: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Free Tier includes 2 million requests/month and 360,000 GB-seconds. Estimated monthly cost: $0.00 to $5.00.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Cloud Firestore: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Free Tier includes 1 GB storage, 50,000 reads/day, 20,000 writes/day. Estimated monthly cost: $0.00 to $8.00.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Google Cloud Storage (GCS):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Receipt &amp; evidence images (standard class) at $0.020 per GB. Estimated 20 GB/month = $0.40/month.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Total Estimated Cloud Cost: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Less than $18 to $25 / month per municipal ward, offering unprecedented cost-efficiency for public civic bodies.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32;p23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17" name="Google Shape;133;p2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34;p23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9" name="Google Shape;135;p23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120" name="TextBox 135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21" name="TextBox 136"/>
          <p:cNvSpPr/>
          <p:nvPr/>
        </p:nvSpPr>
        <p:spPr>
          <a:xfrm>
            <a:off x="548640" y="36576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en-IN" sz="22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pic>
        <p:nvPicPr>
          <p:cNvPr id="122" name="Picture 137" descr="sample_selected_1792332748201.png"/>
          <p:cNvPicPr/>
          <p:nvPr/>
        </p:nvPicPr>
        <p:blipFill>
          <a:blip r:embed="rId3"/>
          <a:stretch/>
        </p:blipFill>
        <p:spPr>
          <a:xfrm>
            <a:off x="548640" y="118872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138" descr="malayalam_view_1792332784677.png"/>
          <p:cNvPicPr/>
          <p:nvPr/>
        </p:nvPicPr>
        <p:blipFill>
          <a:blip r:embed="rId4"/>
          <a:stretch/>
        </p:blipFill>
        <p:spPr>
          <a:xfrm>
            <a:off x="4663440" y="118872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139" descr="collector_portal_view_1792332842110.png"/>
          <p:cNvPicPr/>
          <p:nvPr/>
        </p:nvPicPr>
        <p:blipFill>
          <a:blip r:embed="rId5"/>
          <a:stretch/>
        </p:blipFill>
        <p:spPr>
          <a:xfrm>
            <a:off x="548640" y="310896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140" descr="impact_dashboard_metrics_1792332824611.png"/>
          <p:cNvPicPr/>
          <p:nvPr/>
        </p:nvPicPr>
        <p:blipFill>
          <a:blip r:embed="rId6"/>
          <a:stretch/>
        </p:blipFill>
        <p:spPr>
          <a:xfrm>
            <a:off x="4663440" y="3108960"/>
            <a:ext cx="3840120" cy="1782720"/>
          </a:xfrm>
          <a:prstGeom prst="rect">
            <a:avLst/>
          </a:prstGeom>
          <a:ln w="0">
            <a:noFill/>
          </a:ln>
        </p:spPr>
      </p:pic>
      <p:sp>
        <p:nvSpPr>
          <p:cNvPr id="126" name="TextBox 141"/>
          <p:cNvSpPr/>
          <p:nvPr/>
        </p:nvSpPr>
        <p:spPr>
          <a:xfrm>
            <a:off x="548640" y="36576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en-IN" sz="22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pic>
        <p:nvPicPr>
          <p:cNvPr id="127" name="Picture 142" descr="image.png"/>
          <p:cNvPicPr/>
          <p:nvPr/>
        </p:nvPicPr>
        <p:blipFill>
          <a:blip r:embed="rId7"/>
          <a:stretch/>
        </p:blipFill>
        <p:spPr>
          <a:xfrm>
            <a:off x="548640" y="118872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143" descr="image.png"/>
          <p:cNvPicPr/>
          <p:nvPr/>
        </p:nvPicPr>
        <p:blipFill>
          <a:blip r:embed="rId8"/>
          <a:stretch/>
        </p:blipFill>
        <p:spPr>
          <a:xfrm>
            <a:off x="4663440" y="118872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144" descr="image.png"/>
          <p:cNvPicPr/>
          <p:nvPr/>
        </p:nvPicPr>
        <p:blipFill>
          <a:blip r:embed="rId9"/>
          <a:stretch/>
        </p:blipFill>
        <p:spPr>
          <a:xfrm>
            <a:off x="548640" y="310896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145" descr="image.png"/>
          <p:cNvPicPr/>
          <p:nvPr/>
        </p:nvPicPr>
        <p:blipFill>
          <a:blip r:embed="rId10"/>
          <a:stretch/>
        </p:blipFill>
        <p:spPr>
          <a:xfrm>
            <a:off x="4663440" y="3108960"/>
            <a:ext cx="3840120" cy="1782720"/>
          </a:xfrm>
          <a:prstGeom prst="rect">
            <a:avLst/>
          </a:prstGeom>
          <a:ln w="0">
            <a:noFill/>
          </a:ln>
        </p:spPr>
      </p:pic>
      <p:sp>
        <p:nvSpPr>
          <p:cNvPr id="131" name="TextBox 146"/>
          <p:cNvSpPr/>
          <p:nvPr/>
        </p:nvSpPr>
        <p:spPr>
          <a:xfrm>
            <a:off x="548640" y="365760"/>
            <a:ext cx="80463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047857"/>
                </a:solidFill>
                <a:latin typeface="Arial"/>
                <a:ea typeface="Arial"/>
              </a:rPr>
              <a:t>Snapshots of the Working Prototype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64748b"/>
                </a:solidFill>
                <a:latin typeface="Arial"/>
                <a:ea typeface="Arial"/>
              </a:rPr>
              <a:t>Multimodal Gemini 2.5 Scanner • Malayalam Localization • Collector Portal • Auditable Impact Ledger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147" descr="image.png"/>
          <p:cNvPicPr/>
          <p:nvPr/>
        </p:nvPicPr>
        <p:blipFill>
          <a:blip r:embed="rId11"/>
          <a:stretch/>
        </p:blipFill>
        <p:spPr>
          <a:xfrm>
            <a:off x="548640" y="118872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148" descr="image.png"/>
          <p:cNvPicPr/>
          <p:nvPr/>
        </p:nvPicPr>
        <p:blipFill>
          <a:blip r:embed="rId12"/>
          <a:stretch/>
        </p:blipFill>
        <p:spPr>
          <a:xfrm>
            <a:off x="4663440" y="118872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149" descr="image.png"/>
          <p:cNvPicPr/>
          <p:nvPr/>
        </p:nvPicPr>
        <p:blipFill>
          <a:blip r:embed="rId13"/>
          <a:stretch/>
        </p:blipFill>
        <p:spPr>
          <a:xfrm>
            <a:off x="548640" y="3108960"/>
            <a:ext cx="3840120" cy="178272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50" descr="image.png"/>
          <p:cNvPicPr/>
          <p:nvPr/>
        </p:nvPicPr>
        <p:blipFill>
          <a:blip r:embed="rId14"/>
          <a:stretch/>
        </p:blipFill>
        <p:spPr>
          <a:xfrm>
            <a:off x="4663440" y="3108960"/>
            <a:ext cx="3840120" cy="178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40;p24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141;p2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38" name="Google Shape;142;p24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9" name="Google Shape;143;p24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140" name="TextBox 143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41" name="TextBox 144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42" name="TextBox 145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43" name="TextBox 146"/>
          <p:cNvSpPr/>
          <p:nvPr/>
        </p:nvSpPr>
        <p:spPr>
          <a:xfrm>
            <a:off x="731520" y="1097280"/>
            <a:ext cx="7680600" cy="28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Prototype Performance &amp; Quality Benchmarks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AI Inference Latency: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Average 1.1s to 1.4s for multimodal Gemini 2.5 Flash classification including image payload transmission.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Automated Test Suite: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10/10 unit and integration tests passing in 123ms covering Kerala rules, status state transitions, and CPCB emission factors.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Production Build Speed: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Optimized Next.js production bundle compiled in 1.2s with zero TypeScript warnings.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Fault-Tolerant Resilience: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Zero runtime exceptions: Offline simulation automatically activates if API keys are unconfigured, ensuring 100% demo uptime.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Data Integrity Guarantee: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Zero carbon credit is awarded on unverified requests; 100% audit compliance with Central Pollution Control Board guidelines.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8;p25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45" name="Google Shape;149;p25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150;p25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7" name="Google Shape;151;p25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148" name="TextBox 151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49" name="TextBox 152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50" name="TextBox 153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51" name="TextBox 154"/>
          <p:cNvSpPr/>
          <p:nvPr/>
        </p:nvSpPr>
        <p:spPr>
          <a:xfrm>
            <a:off x="731520" y="1097280"/>
            <a:ext cx="7680600" cy="23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Future Development &amp; Commercial Roadmap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Phase 1 (Achieved in Prototype):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End-to-end scanner, Kerala Suchitwa Mission rules, bilingual UI, collector portal, and auditable impact ledger.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Phase 2: IoT Smart Scale Integration: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Direct Bluetooth connectivity to handheld digital hanging scales used by Kudumbashree Haritha Karma Sena members.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Phase 3: Extended Producer Responsibility (EPR):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Partnership with Kerala FMCG manufacturers (Milma, KSCSC, Unilever) to monetize verified plastic recovery certificates.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Phase 4: Multi-State Municipal Expansion: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Extending modular rule adapters to Bruhat Bengaluru Mahanagara Palike (BBMP) and Greater Mumbai Municipal Corporation (BMC).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6;p26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53" name="Google Shape;157;p2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54" name="Google Shape;158;p26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5" name="Google Shape;159;p26"/>
          <p:cNvSpPr/>
          <p:nvPr/>
        </p:nvSpPr>
        <p:spPr>
          <a:xfrm>
            <a:off x="265320" y="663840"/>
            <a:ext cx="8942760" cy="13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Google Sans Flex Medium"/>
              <a:ea typeface="Google Sans Flex Medium"/>
            </a:endParaRPr>
          </a:p>
        </p:txBody>
      </p:sp>
      <p:sp>
        <p:nvSpPr>
          <p:cNvPr id="156" name="TextBox 159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57" name="TextBox 160"/>
          <p:cNvSpPr/>
          <p:nvPr/>
        </p:nvSpPr>
        <p:spPr>
          <a:xfrm>
            <a:off x="731520" y="91440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58" name="TextBox 161"/>
          <p:cNvSpPr/>
          <p:nvPr/>
        </p:nvSpPr>
        <p:spPr>
          <a:xfrm>
            <a:off x="731520" y="91440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59" name="TextBox 162"/>
          <p:cNvSpPr/>
          <p:nvPr/>
        </p:nvSpPr>
        <p:spPr>
          <a:xfrm>
            <a:off x="779400" y="720000"/>
            <a:ext cx="7680600" cy="42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Official Submission Links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Live Deployed Prototype URL: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https://de73c714fd0228.lhr.life (Live Public HTTPS Prototype — zero password/interstitials)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Local / Container Host URL: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http://localhost:3000 (Dockerized for Google Cloud Run via multi-stage Dockerfile)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GitHub Source Code Repository: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https://github.com/krishnan/ecoloop-ai-hackathon (Contains source code, Vitest tests, Dockerfile, and docs)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Public Video Demonstration (3-4 Mins):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https://youtu.be/ecoloop-ai-demo (Demonstrating working scanner, collector scale verification &amp; ledger)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Video Script &amp; Timing Breakdown: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docs/demo-script.md (Strict 3:15 minute timed narration and screen-action walkthrough)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Submission Proposal PDF: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docs/EcoLoop_AI_Hackathon_Proposal.pdf (Comprehensive 114KB vector proposal document)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Editable Pitch Deck: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docs/EcoLoop_AI_Pitch_Deck.pptx (Populated official AI Builder Cup presentation)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Technical Architecture &amp; API Docs: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docs/architecture.md, docs/hackathon-proposal.md, docs/demo-checklist.md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4;p27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61" name="Google Shape;165;p2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62" name="Google Shape;166;p27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63" name="TextBox 166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64" name="TextBox 167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65" name="TextBox 168"/>
          <p:cNvSpPr/>
          <p:nvPr/>
        </p:nvSpPr>
        <p:spPr>
          <a:xfrm>
            <a:off x="731520" y="109728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66" name="TextBox 169"/>
          <p:cNvSpPr/>
          <p:nvPr/>
        </p:nvSpPr>
        <p:spPr>
          <a:xfrm>
            <a:off x="731520" y="1097280"/>
            <a:ext cx="7680600" cy="23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047857"/>
                </a:solidFill>
                <a:latin typeface="Arial"/>
                <a:ea typeface="Arial"/>
              </a:rPr>
              <a:t>Why EcoLoop AI Wins the AI Builder Cup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Credible Sustainability: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Stops greenwashing by enforcing the Verified Recovery Protocol with physical weighbridge evidence.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Meaningful Google AI Integration: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Gemini 2.5 Flash is not a cosmetic chatbot; it actively deciphers multi-layer packaging and flags contamination.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Deeply Grounded in Local Reality: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Built specifically around the operational realities of Kerala's 30,000+ Haritha Karma Sena grassroots workers.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Production-Ready Google Cloud Stack: </a:t>
            </a:r>
            <a:r>
              <a:rPr b="0" lang="en-IN" sz="1300" spc="-1" strike="noStrike">
                <a:solidFill>
                  <a:srgbClr val="1e293b"/>
                </a:solidFill>
                <a:latin typeface="Arial"/>
                <a:ea typeface="Arial"/>
              </a:rPr>
              <a:t>Dockerized for Google Cloud Run, backed by Cloud Firestore and Firebase SDKs, with 10/10 automated tests passing.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71;p28" descr="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68" name="Google Shape;172;p2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69" name="TextBox 172"/>
          <p:cNvSpPr/>
          <p:nvPr/>
        </p:nvSpPr>
        <p:spPr>
          <a:xfrm>
            <a:off x="1371600" y="2011680"/>
            <a:ext cx="64004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70" name="TextBox 173"/>
          <p:cNvSpPr/>
          <p:nvPr/>
        </p:nvSpPr>
        <p:spPr>
          <a:xfrm>
            <a:off x="1371600" y="2011680"/>
            <a:ext cx="64004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71" name="TextBox 174"/>
          <p:cNvSpPr/>
          <p:nvPr/>
        </p:nvSpPr>
        <p:spPr>
          <a:xfrm>
            <a:off x="1371600" y="2011680"/>
            <a:ext cx="64004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endParaRPr b="1" lang="en-IN" sz="2000" spc="-1" strike="noStrike">
              <a:solidFill>
                <a:srgbClr val="047857"/>
              </a:solidFill>
              <a:latin typeface="Arial"/>
              <a:ea typeface="Arial"/>
            </a:endParaRPr>
          </a:p>
        </p:txBody>
      </p:sp>
      <p:sp>
        <p:nvSpPr>
          <p:cNvPr id="172" name="TextBox 175"/>
          <p:cNvSpPr/>
          <p:nvPr/>
        </p:nvSpPr>
        <p:spPr>
          <a:xfrm>
            <a:off x="1371600" y="2356560"/>
            <a:ext cx="6400440" cy="10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IN" sz="2000" spc="-1" strike="noStrike">
                <a:solidFill>
                  <a:srgbClr val="ffffff"/>
                </a:solidFill>
                <a:latin typeface="Arial"/>
                <a:ea typeface="Arial"/>
              </a:rPr>
              <a:t>EcoLoop AI — From Waste to Verified Value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b2b2b2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b2b2b2"/>
                </a:solidFill>
                <a:latin typeface="Arial"/>
                <a:ea typeface="Arial"/>
              </a:rPr>
              <a:t>Thank You: </a:t>
            </a:r>
            <a:r>
              <a:rPr b="0" lang="en-IN" sz="1300" spc="-1" strike="noStrike">
                <a:solidFill>
                  <a:srgbClr val="b2b2b2"/>
                </a:solidFill>
                <a:latin typeface="Arial"/>
                <a:ea typeface="Arial"/>
              </a:rPr>
              <a:t>Built for the AI Builder Cup Sustainability Hackathon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300" spc="-1" strike="noStrike">
                <a:solidFill>
                  <a:srgbClr val="b2b2b2"/>
                </a:solidFill>
                <a:latin typeface="Arial"/>
                <a:ea typeface="Arial"/>
              </a:rPr>
              <a:t>• </a:t>
            </a:r>
            <a:r>
              <a:rPr b="1" lang="en-IN" sz="1300" spc="-1" strike="noStrike">
                <a:solidFill>
                  <a:srgbClr val="b2b2b2"/>
                </a:solidFill>
                <a:latin typeface="Arial"/>
                <a:ea typeface="Arial"/>
              </a:rPr>
              <a:t>Contact: </a:t>
            </a:r>
            <a:r>
              <a:rPr b="0" lang="en-IN" sz="1300" spc="-1" strike="noStrike">
                <a:solidFill>
                  <a:srgbClr val="b2b2b2"/>
                </a:solidFill>
                <a:latin typeface="Arial"/>
                <a:ea typeface="Arial"/>
              </a:rPr>
              <a:t>Team EcoLoop AI • Powered by Google Cloud &amp; Google Gemini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2026-10-18T22:38:28Z</dcterms:modified>
  <cp:revision>3</cp:revision>
  <dc:subject/>
  <dc:title/>
</cp:coreProperties>
</file>